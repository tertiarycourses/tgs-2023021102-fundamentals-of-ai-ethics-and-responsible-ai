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incident share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Data</c:v>
                </c:pt>
                <c:pt idx="1">
                  <c:v>Model</c:v>
                </c:pt>
                <c:pt idx="2">
                  <c:v>Interface</c:v>
                </c:pt>
                <c:pt idx="3">
                  <c:v>Governance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24</c:v>
                </c:pt>
                <c:pt idx="2">
                  <c:v>19</c:v>
                </c:pt>
                <c:pt idx="3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Control intensity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Low</c:v>
                </c:pt>
                <c:pt idx="1">
                  <c:v>Medium</c:v>
                </c:pt>
                <c:pt idx="2">
                  <c:v>High</c:v>
                </c:pt>
                <c:pt idx="3">
                  <c:v>Prohibited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80</c:v>
                </c:pt>
                <c:pt idx="3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coverage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Model metrics</c:v>
                </c:pt>
                <c:pt idx="1">
                  <c:v>Outcome metrics</c:v>
                </c:pt>
                <c:pt idx="2">
                  <c:v>Human factors</c:v>
                </c:pt>
                <c:pt idx="3">
                  <c:v>Control health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</c:v>
                </c:pt>
                <c:pt idx="1">
                  <c:v>55</c:v>
                </c:pt>
                <c:pt idx="2">
                  <c:v>40</c:v>
                </c:pt>
                <c:pt idx="3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Selection rate</c:v>
                </c:pt>
                <c:pt idx="1">
                  <c:v>True positive rate</c:v>
                </c:pt>
                <c:pt idx="2">
                  <c:v>False positive rate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82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Group B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Sheet1!$A$2:$A$4</c:f>
              <c:strCache>
                <c:ptCount val="3"/>
                <c:pt idx="0">
                  <c:v>Selection rate</c:v>
                </c:pt>
                <c:pt idx="1">
                  <c:v>True positive rate</c:v>
                </c:pt>
                <c:pt idx="2">
                  <c:v>False positive rate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52</c:v>
                </c:pt>
                <c:pt idx="1">
                  <c:v>70</c:v>
                </c:pt>
                <c:pt idx="2">
                  <c:v>22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Completeness</c:v>
                </c:pt>
                <c:pt idx="2">
                  <c:v>Representation</c:v>
                </c:pt>
                <c:pt idx="3">
                  <c:v>Freshness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</c:v>
                </c:pt>
                <c:pt idx="1">
                  <c:v>95</c:v>
                </c:pt>
                <c:pt idx="2">
                  <c:v>78</c:v>
                </c:pt>
                <c:pt idx="3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Group B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Completeness</c:v>
                </c:pt>
                <c:pt idx="2">
                  <c:v>Representation</c:v>
                </c:pt>
                <c:pt idx="3">
                  <c:v>Freshness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83</c:v>
                </c:pt>
                <c:pt idx="2">
                  <c:v>60</c:v>
                </c:pt>
                <c:pt idx="3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Evidence reliability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Ad hoc</c:v>
                </c:pt>
                <c:pt idx="1">
                  <c:v>Defined</c:v>
                </c:pt>
                <c:pt idx="2">
                  <c:v>Measured</c:v>
                </c:pt>
                <c:pt idx="3">
                  <c:v>Adaptive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72</c:v>
                </c:pt>
                <c:pt idx="3">
                  <c:v>92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21102-Fundamentals-of-AI-Ethics-and-Responsible-AI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sponsible-ai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45720"/>
            <a:ext cx="7479792" cy="6675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8912"/>
            <a:ext cx="658368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417320"/>
            <a:ext cx="4709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·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4800600" cy="1828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Fundamentals of AI Ethics and Responsible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49039"/>
            <a:ext cx="17373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096512"/>
            <a:ext cx="475488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Course Code: TGS-2023021102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TSC: AI Ethics and Governance · ICT-CGP-2026-1.1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Conducted by Tertiary Infotech Academy Pte Ltd ·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7.0 · 9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and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Expectations · learning outcomes · assessment · course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AM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Scan the SSG digital-attendance QR code when the trainer displays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PM attendance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Repeat after lunch; confirm the submission screen before closing.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Complete the separate assessment attendance at the scheduled time.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Funding requirement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Maintain at least 75% attendance and complete all prescribed assessments.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TRAQOM attendance is a formal funding record—check each submission before continuing.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32918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291840" cy="9144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7048" y="210312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7048" y="2103120"/>
            <a:ext cx="1554480" cy="1554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886200"/>
            <a:ext cx="2788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46227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916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1737360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282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7E0EA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23774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237744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423160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TITLE /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140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7E0EA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30632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063240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3108960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0998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7E0EA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3749039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3749039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3794759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785615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7E0EA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9392" y="44348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443484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4480559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TRAINING EXPERIENCE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4714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7E0EA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79392" y="51206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9392" y="512064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5166359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CONTACT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1572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7E0EA"/>
                </a:solidFill>
                <a:latin typeface="Arial"/>
              </a:rPr>
              <a:t>__________________________________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32918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29184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7048" y="210312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7048" y="2103120"/>
            <a:ext cx="1554480" cy="1554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886200"/>
            <a:ext cx="2788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46227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Technology educator · AI governance and responsible innovation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6916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1737360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282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23774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237744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423160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TITLE /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140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Principal Trainer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30632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063240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3108960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0998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PhD · adult education · technology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3749039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3749039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3794759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785615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AI, governance, data and digital transformation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9392" y="44348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443484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4480559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TRAINING EXPERIENCE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4714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WSQ and professional technology programmes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79392" y="5120640"/>
            <a:ext cx="7214616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9392" y="512064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5166359"/>
            <a:ext cx="1417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CONTACT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157216"/>
            <a:ext cx="5212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INTRODUCTIONS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How would you like the class to address you?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INTRODUCTIONS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Where do AI-assisted decisions appear in your work?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INTRODUCTIONS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AI tools or models have you used?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INTRODUCTIONS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Goal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What governance decision do you want to make better?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INTRODUCTIONS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Listen for different perspectives: AI affects teams and stakeholders differently.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Participate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Questions and respectful challenge improve the class.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HOUSEKEEPING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Protect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only supplied mock data; never paste confidential information.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HOUSEKEEPING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Be evidence-led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Separate facts, assumptions, values and recommendations.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HOUSEKEEPING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Stay human-centric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Discuss impacts on people, not only model performance.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HOUSEKEEPING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psychologically safe class supports rigorous ethical reasoning.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Programme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WSQ · beginner level · instructor-led and hands-on.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2 days · 16 total contact hours · includes 2 hours of assessment.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FACTS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Ethics and Governance · ICT-CGP-2026-1.1.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FACTS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Written Assessment (SAQ) + Case Study · open book.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FACTS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course moves from principles to a defensible governance decision.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CONSTRUCTIVE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Proposal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LU1 · LO1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Identify AI ethics and governance principles · K1 frameworks · K2 principles · A1 identify principles and processes.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CONSTRUCTIVE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LU2 · LO2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Apply an AI ethics and governance framework to AI projects · K3 processes · K4 code · A2 uphold · A3 govern deployment.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CONSTRUCTIVE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Training allocation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LU1: Day 1, 09:00–17:00 excluding lunch = 7 hours · LU2: Day 1, 17:00–18:00 plus Day 2, 09:00–16:00 excluding lunch = 7 hours.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CONSTRUCTIVE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WA Q1–Q4 assess K1–K4 · Case Study Q1–Q3 assess A1–A3 · 2 hours total.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CONSTRUCTIVE 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approved Course Proposal maps every knowledge and ability statement to teaching, practice and assessment.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TSC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Knowledge and 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K1–K2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Frameworks and principles for AI ethics and governance.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TSC MAPPING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K3–K4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Governance processes and relevant codes of conduct.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TSC MAPPING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Identify principles and processes.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TSC MAPPING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A2–A3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Uphold governance duties and apply them to AI projects.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TSC MAPPING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activity sequence provides direct practice for every K and A code.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2 DAYS · 16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·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572768"/>
            <a:ext cx="73152" cy="310896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09:00–09:30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591056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Administration, introductions and AM attendance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911095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911095"/>
            <a:ext cx="7315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29384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09:30–10:30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929384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1 · AI Ethics Foundations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249424"/>
            <a:ext cx="10835640" cy="310896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2249424"/>
            <a:ext cx="73152" cy="3108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267712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10:30–10:40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267712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587752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7315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06040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10:40–11:25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606040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1 · Use-case and stakeholder map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926080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2926080"/>
            <a:ext cx="73152" cy="3108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944368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11:25–12:25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2944368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2 · Responsible AI Principles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264408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264408"/>
            <a:ext cx="73152" cy="3108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282696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12:25–13:10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3282696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2 · AI Code of Conduct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602736"/>
            <a:ext cx="10835640" cy="310896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3602736"/>
            <a:ext cx="73152" cy="3108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621024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13:10–14:10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3621024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941064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3941064"/>
            <a:ext cx="73152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3959352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14:10–14:50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959352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3 · AI Governance Frameworks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279392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279392"/>
            <a:ext cx="73152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4297680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14:50–15:50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297680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3 · Risk tiering and RACI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617720"/>
            <a:ext cx="10835640" cy="310896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617720"/>
            <a:ext cx="73152" cy="3108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4636008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15:50–16:00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11680" y="4636008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4956048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" y="4956048"/>
            <a:ext cx="73152" cy="3108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974336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16:00–17:00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11680" y="4974336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4 · AI Governance Lifecycle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5294376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58368" y="5294376"/>
            <a:ext cx="73152" cy="3108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312664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17:00–17:50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1680" y="5312664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4 · Impact assessment and risk register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" y="5632704"/>
            <a:ext cx="10835640" cy="31089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5632704"/>
            <a:ext cx="73152" cy="310896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5650992"/>
            <a:ext cx="11887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17:50–18:00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1680" y="5650992"/>
            <a:ext cx="91440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Day 1 recap and PM attendance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2 DAYS · 16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· Day 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572768"/>
            <a:ext cx="73152" cy="270052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09:00–09:10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591056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Day 1 recap and AM attendance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870252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870252"/>
            <a:ext cx="73152" cy="2700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88540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09:10–09:50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8540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5 · Fairness and Explainability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167737"/>
            <a:ext cx="10835640" cy="270052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2167737"/>
            <a:ext cx="73152" cy="2700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186025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09:50–10:00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186025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465222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2465222"/>
            <a:ext cx="73152" cy="2700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483510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10:00–11:00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483510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5 · Fairness and explainability audit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762707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2762707"/>
            <a:ext cx="73152" cy="2700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780995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11:00–11:35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2780995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6 · Data Governance and Privacy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060192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060192"/>
            <a:ext cx="73152" cy="2700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078480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11:35–12:20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3078480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6 · Data governance controls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357676"/>
            <a:ext cx="10835640" cy="270052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3357676"/>
            <a:ext cx="73152" cy="2700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375964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12:20–13:20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3375964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655161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3655161"/>
            <a:ext cx="73152" cy="2700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3673449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13:20–13:50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673449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7 · Generative AI Security and Copyright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3952646"/>
            <a:ext cx="10835640" cy="270052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3952646"/>
            <a:ext cx="73152" cy="2700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970934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13:50–14:00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3970934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250131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250131"/>
            <a:ext cx="73152" cy="2700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4268419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14:00–14:50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11680" y="4268419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7 · GenAI threat model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4547616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" y="4547616"/>
            <a:ext cx="73152" cy="2700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565904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14:50–15:20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11680" y="4565904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Module 8 · Human Oversight and Accountability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4845100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58368" y="4845100"/>
            <a:ext cx="73152" cy="2700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863388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15:20–15:50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1680" y="4863388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Activity 8 · Oversight and governance decision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" y="5142585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5142585"/>
            <a:ext cx="73152" cy="270052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5160873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B6372"/>
                </a:solidFill>
                <a:latin typeface="Arial"/>
              </a:rPr>
              <a:t>15:50–16:00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1680" y="5160873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Assessment briefing and PM attendance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440070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440070"/>
            <a:ext cx="73152" cy="2700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8680" y="5458358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16:00–17:00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11680" y="5458358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Written Assessment (SAQ)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5737555"/>
            <a:ext cx="10835640" cy="2700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8368" y="5737555"/>
            <a:ext cx="73152" cy="2700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8680" y="5755843"/>
            <a:ext cx="118872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17:00–18:00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11680" y="5755843"/>
            <a:ext cx="9144000" cy="2517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Case Study assessment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COURSEWARE ON 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Material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6583680" cy="4279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00784"/>
            <a:ext cx="658368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47088"/>
            <a:ext cx="118872" cy="11887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1847088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9888" y="1847088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64208" y="1810512"/>
            <a:ext cx="5257800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1819656"/>
            <a:ext cx="498348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87168"/>
            <a:ext cx="58521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Course Materials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20040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05840" y="3200400"/>
            <a:ext cx="64008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291840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Trainer Slides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3192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31920"/>
            <a:ext cx="64008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02335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Learner Slides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66344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4663440"/>
            <a:ext cx="64008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75487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Learner Guide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320040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3200400"/>
            <a:ext cx="64008" cy="548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40" y="3291840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4760" y="393192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3931920"/>
            <a:ext cx="64008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77640" y="402335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644383" y="181051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44383" y="181051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173736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Current approved courseware</a:t>
            </a:r>
          </a:p>
        </p:txBody>
      </p:sp>
      <p:sp>
        <p:nvSpPr>
          <p:cNvPr id="33" name="Oval 32"/>
          <p:cNvSpPr/>
          <p:nvPr/>
        </p:nvSpPr>
        <p:spPr>
          <a:xfrm>
            <a:off x="7644383" y="2770632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44383" y="277063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269748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Learner Guide and slide deck</a:t>
            </a:r>
          </a:p>
        </p:txBody>
      </p:sp>
      <p:sp>
        <p:nvSpPr>
          <p:cNvPr id="36" name="Oval 35"/>
          <p:cNvSpPr/>
          <p:nvPr/>
        </p:nvSpPr>
        <p:spPr>
          <a:xfrm>
            <a:off x="7644383" y="373075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4383" y="373075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65760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Assessment submission area</a:t>
            </a:r>
          </a:p>
        </p:txBody>
      </p:sp>
      <p:sp>
        <p:nvSpPr>
          <p:cNvPr id="39" name="Oval 38"/>
          <p:cNvSpPr/>
          <p:nvPr/>
        </p:nvSpPr>
        <p:spPr>
          <a:xfrm>
            <a:off x="7644383" y="4690872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44383" y="469087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61772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Attendance and course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LEARNER-SAFE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Activity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6583680" cy="4279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00784"/>
            <a:ext cx="658368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47088"/>
            <a:ext cx="118872" cy="11887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1847088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9888" y="1847088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64208" y="1810512"/>
            <a:ext cx="5257800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1819656"/>
            <a:ext cx="498348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https://github.com/tertiarycourses/TGS-2023021102-Fundamentals-of-AI-Ethics-and-Responsible-AI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87168"/>
            <a:ext cx="58521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Course Materials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20040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05840" y="3200400"/>
            <a:ext cx="64008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291840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Trainer Slides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3192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31920"/>
            <a:ext cx="64008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02335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Learner Slides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66344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4663440"/>
            <a:ext cx="64008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75487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Learner Guide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320040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3200400"/>
            <a:ext cx="64008" cy="548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40" y="3291840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4760" y="393192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3931920"/>
            <a:ext cx="64008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77640" y="402335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644383" y="181051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44383" y="181051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173736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Eight self-contained activity folders</a:t>
            </a:r>
          </a:p>
        </p:txBody>
      </p:sp>
      <p:sp>
        <p:nvSpPr>
          <p:cNvPr id="33" name="Oval 32"/>
          <p:cNvSpPr/>
          <p:nvPr/>
        </p:nvSpPr>
        <p:spPr>
          <a:xfrm>
            <a:off x="7644383" y="2770632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44383" y="277063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269748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pack for each activity</a:t>
            </a:r>
          </a:p>
        </p:txBody>
      </p:sp>
      <p:sp>
        <p:nvSpPr>
          <p:cNvPr id="36" name="Oval 35"/>
          <p:cNvSpPr/>
          <p:nvPr/>
        </p:nvSpPr>
        <p:spPr>
          <a:xfrm>
            <a:off x="7644383" y="373075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4383" y="373075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65760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Supplied mock data and templates</a:t>
            </a:r>
          </a:p>
        </p:txBody>
      </p:sp>
      <p:sp>
        <p:nvSpPr>
          <p:cNvPr id="39" name="Oval 38"/>
          <p:cNvSpPr/>
          <p:nvPr/>
        </p:nvSpPr>
        <p:spPr>
          <a:xfrm>
            <a:off x="7644383" y="4690872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44383" y="469087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61772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Submission and acceptance checklist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Materials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 book: approved slides and Learner Guide only.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 BR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 discussion, photos, recording or unauthorised assistance.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 BR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Complete answers in the provided documents and upload to LMS.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 BR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 required K and A criteria must be demonstrated.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 BR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Ask for clarification before the assessment begins; follow the assessor's instructions.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WA (SAQ)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4 open-ended questions · K1–K4 · 1 hour.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3 open-ended questions · A1–A3 · 1 hour.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Format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 book using approved course materials.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assessor explains feedback, sign-off and appeal rights.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assessment mirrors the approved instrument: 4 WA questions and 3 Case Study questions.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191658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8059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8059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66390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940710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0710" y="1874519"/>
            <a:ext cx="1916582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8961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8961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0438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57292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31612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1612" y="1874519"/>
            <a:ext cx="1916582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1340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 then Case Study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48195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322515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5" y="1874519"/>
            <a:ext cx="1916582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6076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6076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2243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9097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513417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3417" y="1874519"/>
            <a:ext cx="191658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51668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51668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3145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Complete the steps in sequence and confirm each submission.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AI Ethics 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From AI capability to sociotechnical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AI systems actually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Perceive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Extract patterns from images, sound, text and sensor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Estimate a label, score, probability or future outcome.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Recommend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Rank options or propose a course of action.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Produce new text, images, audio, video or code probabilistically.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Ethical risk follows the decision and impact, not the marketing label attached to the 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AI ethics is operational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single defect can affect thousands of people before anyone notices.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Complex pipelines can hide why a result changed or who is accountable.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can shift opportunities, burdens and decision authority.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Predictions influence behaviour and create the next training data.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AI ethics is how an organisation turns values into decisions, controls, evidence and redress.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AI system is sociotechnical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Owners, developers, users, reviewers and affected persons.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Policies, approvals, escalation routes and operating procedures.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Technology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Data, models, prompts, tools, interfaces and infrastructure.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Law, culture, sector, incentives and the consequences of failure.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model can be technically accurate while the overall system remains harmful or unfair.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Risk, harm and benefit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Likelihood multiplied by severity, adjusted for exposure and control strength.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Impact on rights, safety, opportunity, dignity, privacy or the environment.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Benefit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Value to individuals, organisations and society—not only efficiency.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Trade-off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justified balance with documented residual risk and accountable approval.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Responsible AI seeks proportionate controls, not zero risk and not innovation at any cost.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ethical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Consequences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option produces the greatest overall benefit and least harm?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Duties and rights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What obligations and non-negotiable rights must be respected?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Virtues and values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What would a trustworthy, fair and responsible organisation do?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Public reason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Could the decision and rationale be explained to affected people?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Using more than one lens exposes blind spots that a single moral theory can miss.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Responsible AI as a control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Define purpose, intended users, prohibited uses and success criteria.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Set policy, legal, risk and human-oversight boundaries.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Test performance, fairness, robustness, privacy and security.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Monitor outcomes, incidents, drift, complaints and corrective action.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 principle becomes real only when it has an owner, control, metric and evidence trail.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incidents have multiple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37360"/>
          <a:ext cx="65379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737360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28800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7" y="2075688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Unrepresentative samples, weak labels, leakage or unlawful collection.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70048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70048"/>
            <a:ext cx="73152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7" y="2761488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7" y="3008376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Poor calibration, brittleness, opacity or unsafe generalisation.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02736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02736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7" y="3694176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7" y="3941064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Automation bias, misleading confidence or no meaningful choice.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535424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53542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7" y="4626864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7" y="4873752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No owner, weak monitoring, unclear escalation or ignored warnings.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13832"/>
            <a:ext cx="3931920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59" y="5577840"/>
            <a:ext cx="35844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Illustrative teaching data shows that non-model causes can account for most incident pathways.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impact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Decision makers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Sponsor, product owner and accountable executive.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Operators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Developers, vendors, reviewers and frontline staff.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Affected people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Applicants, customers, employees and communities.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Assurance actors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Risk, legal, security, audit, regulators and civil society.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Those who bear the risk may not be the same people who receive the benefit.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1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an AI Use Case and Its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1 · 45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Identify the system purpose, decision, stakeholders, benefits, harms and ethical tensions (A1).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Read scenario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Define decision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Map stakeholders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Identify impacts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State guardrails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Completed AI Use-Case &amp; Stakeholder Canvas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Prompt PDF, stakeholder template, scenario brief · Detailed procedure: Learner Guide, Activity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1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 · Map an AI Use Case and Its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canvas names the decision, at least six stakeholders, two benefits, four harms, three prohibited uses and an accountable owner.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AI-assisted decision is explicit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Affected people are separate from users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Benefits and harms name who experiences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Assumptions are labelled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Prohibited uses and owner are present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Responsible AI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Translate values into observable behaviour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Principles form a connected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Fairness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Comparable people receive equitable treatment and outcomes.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Transparency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People know when AI is used, for what purpose and by whom.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Accountability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Named owners remain answerable for decisions and controls.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Human-centricity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Human well-being, agency and safety remain primary.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Principles reinforce each other: explainability supports contestability, which supports accountability.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Fairness is a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Define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Select protected or vulnerable groups relevant to the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Define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State what favourable and harmful outcomes mean.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Choose metric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Pick a fairness measure that matches the decision pathway.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Accept trade-offs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Document who benefits, who is burdened and why.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There is no universal fairness metric; the defensible choice begins with context and harm.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Transparency has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System notice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Disclose that AI is involved and what role it plays.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Process clarity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Explain inputs, workflow, controls and decision authority.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Technical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 model cards, data sheets, tests and audit logs.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Outcome reason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Give the affected person a useful reason and next step.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Transparency is audience-specific: a user needs clarity; an auditor needs traceable evidence.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Explainability, interpretability, transparency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Interpretability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How directly a human can understand the model mechanism.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Explainability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post-hoc account of factors influencing a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Transparency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Information about purpose, data, process, limits and ownership.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Contestability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practical way to question, correct or appeal a decision.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 explanation is only useful when it supports an action, not merely curiosity.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Privacy and data stewardship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Collect and use data for clear, legitimate and compatible purposes.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Minimisation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only what is necessary for the stated objective.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Apply access, encryption, retention and disclosure controls.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Agency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Enable notice, consent where appropriate, correction and withdrawal.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Privacy is a lifecycle obligation, not a one-time consent checkbox.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Safety, security and robustness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Prevent unacceptable physical, psychological or societal harm.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Protect confidentiality, integrity and availability against threats.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Robustness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Maintain acceptable behaviour under variation and attack.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Resilience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Detect failure, contain impact and recover safely.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protects the system; safety protects people; responsible AI requires both.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Accountability needs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Owner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named role accepts responsibility for the system and outcome.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Decision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Approvals, assumptions, exceptions and residual risk are logged.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Independent review tests whether controls work as claimed.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Remedy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Affected people have a route to correction, appeal and redress.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If nobody can show the decision record, accountability exists only on paper.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Principles to policy to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Principle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 durable value such as fairness or human agency.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 mandatory organisational rule expressing that value.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 preventive, detective or corrective mechanism.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 test result, log, approval, record or metric proving operation.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Write every code-of-conduct statement so that compliance can be observed and audited.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2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Turn Principles into an AI Code of Conduct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2 · 45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Translate responsible AI principles into observable duties, controls and evidence (A1, A2).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Choose principles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Write duty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Name control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Define evidence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Test enforceability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AI Ethics Code of Conduct with control statements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Prompt PDF, policy template, principle-control matrix · Detailed procedure: Learner Guide, Activity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2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 · Turn Principles into an AI Code of Conduct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Every principle has a mandatory duty, owner, control, frequency/trigger, evidence and failure indicator.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Statements use must, not should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Each control has one owner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Evidence is named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Exception route is documented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Human agency and redress are covered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COURSE PAUSE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AI Governance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Use complementary frameworks without creating checklist theatre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Singapore Model AI Governance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Internal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Clear roles, responsibilities, SOPs, training and risk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 involvement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Set the appropriate degree of human control by harm and reversibility.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Operations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Manage data, bias, explainability, robustness and model maintenance.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Stakeholder interaction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Communicate clearly and provide feedback or contest routes.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Singapore's framework translates explainable, transparent, fair and human-centric principles into practice.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Verify assurance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Governance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Document processes, oversight, accountability and transparency.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Technical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Measure fairness, robustness, explainability and reproducibility.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Combine test outputs with context, limitations and human judgement.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Communication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Produce a transparent report for internal and external stakeholders.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Testing supports—not replaces—the organisation's responsibility to interpret results and manage risk.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NIST AI RMF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Govern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Create culture, roles, policy, risk tolerance and accountability.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Understand context, people, intended use, impacts and dependencies.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Measure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Evaluate trustworthiness, uncertainty, performance and control effectiveness.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Manage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Prioritise, treat, monitor and communicate AI risks.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Govern is cross-cutting; Map, Measure and Manage iterate throughout the lifecycle.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ISO/IEC 42001 management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Establish context, policy, objectives, risks and AI impact processes.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Operate controls, competence, communication and documented processes.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Monitor, measure, audit and conduct management review.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Correct nonconformities and continually improve the AI management system.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ISO 42001 governs the organisational system around AI, not the technical quality of one model alone.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Frameworks serve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Singapore MGF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How should an organisation operationalise trustworthy AI?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AI 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How can governance and technical claims be tested and evidenced?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NIST AI RMF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How do we structure continuous AI risk management?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ISO 42001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How do we manage and continually improve an enterprise AIMS?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Crosswalk overlapping requirements once; do not make teams complete four disconnected checklists.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governance operating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Board and executive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Set values, risk appetite, accountability and resources.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AI governance council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Approve high-risk uses, exceptions and remediation.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Product and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Build controls, tests, documentation and monitoring.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Independent assurance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Challenge evidence and verify control effectiveness.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first line owns the risk; the second guides and challenges; the third assures independently.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Use-case inventory and risk tiers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37360"/>
          <a:ext cx="65379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737360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28800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7" y="2075688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Record owner, purpose, users, data, model, vendor and deployment state.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70048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70048"/>
            <a:ext cx="73152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7" y="2761488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Inherent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7" y="3008376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Assess impact before controls using harm, scale and vulnerability.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02736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02736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7" y="3694176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Control 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7" y="3941064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Match testing, approvals and oversight to the risk tier.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535424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53542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7" y="4626864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Residual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7" y="4873752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Approve, reduce, transfer, avoid or monitor after controls.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13832"/>
            <a:ext cx="3931920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59" y="5577840"/>
            <a:ext cx="35844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Control intensity rises with inherent risk; prohibited uses are stopped rather than mitigated into approval.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K1 · K2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Governance anti-patterns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Policy-only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principle document exists but product teams lack controls and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Committee bottleneck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Every decision waits for one central group regardless of risk.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Vendor blind 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Contract language substitutes for technical and operational assurance.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Launch-and-forget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Approval occurs once with no monitoring, incident route or review trigger.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Effective governance is risk-based, distributed, evidence-led and continuous.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3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Tier AI Risk and Build a Governance RACI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3 · 60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Apply governance frameworks to classify AI use cases and assign decision rights (A1, A3).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Inventory systems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Score inherent risk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Assign tier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Map controls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Approve RACI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AI inventory, risk-tier rationale and governance RACI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Prompt PDF, AI inventory CSV, RACI template · Detailed procedure: Learner Guide, Activity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3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 · Tier AI Risk and Build a Governance RACI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All use cases have a defensible tier, minimum control profile, review cadence and unambiguous RACI.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Inventory is 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Scores have reasons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Prohibited-use rule exists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One Accountable role per decision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Framework controls are crosswalked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AI Governance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Control the system from idea to retirement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Lifecycle governance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Clarify need, alternatives, stakeholders and prohibited uses.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Select data, model, controls, oversight and acceptance criteria.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Test effectiveness, fairness, privacy, security and usability.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Monitor, respond, change-control and retire with evidence.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 gate is a decision with entry criteria, evidence, accountable approver and recorded outcome.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impact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Purpose, decision, scale, affected people and deployment environment.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Rights, safety, opportunity, privacy, dignity and environmental effects.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Prevention, detection, response, human oversight and communication.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Residual risk, conditions, approvals, review date and owner.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assessment should change the design; a form completed after launch is not risk management.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statement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Because of a data, model, user, vendor or process weakness…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…the AI system may produce or enable an unsafe outcome…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…leading to a defined harm for specific stakeholders.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Control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Existing controls may fail because their coverage or evidence is weak.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Specific risk statements lead to testable controls; vague labels such as 'bias risk' do not.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Block prohibited data, unsafe actions or unapproved deployments.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Monitor drift, anomalies, harmful outputs, complaints and access.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Respond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Pause, contain, correct, notify, investigate and restore safely.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Recover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Rollback, retrain, revalidate and confirm residual risk.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defence in depth; a single filter or reviewer is a fragile point of failure.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Validation evidence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Technical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Performance, fairness, robustness, privacy and security test results.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 factors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Comprehension, workload, automation bias and accessibility tests.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Operational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Runbooks, logging, fallback, incident and business-continuity exercises.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Governance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Approvals, exceptions, model/data cards, contracts and audit evidence.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benchmark score is necessary evidence, but never sufficient evidence for responsible deployment.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Production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37360"/>
          <a:ext cx="65379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737360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28800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7" y="2075688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Population shift, missingness, sensitive data and prompt patterns.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70048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70048"/>
            <a:ext cx="73152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7" y="2761488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7" y="3008376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Error, toxicity, fairness gaps, confidence and unsafe actions.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02736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02736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7" y="3694176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7" y="3941064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Real-world benefit, harm, complaints, appeals and override rates.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535424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53542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7" y="4626864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7" y="4873752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Guardrail coverage, reviewer quality, alert latency and remediation time.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13832"/>
            <a:ext cx="3931920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59" y="5577840"/>
            <a:ext cx="35844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 technically mature dashboard can still under-measure human outcomes and reviewer effectiveness.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incident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Identify affected systems, users, severity and active harm.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Pause features, revoke access, isolate data or route to humans.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Preserve prompts, versions, logs, approvals and decision context.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Correct root causes, notify stakeholders and update controls.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AI incidents demand both technical response and a human-impact response.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4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 and retirement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Triggers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New model, data, prompt, vendor, use, market or legal requirement.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Re-run tests proportional to the change and its risk.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Rollback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Keep a tested route to the last approved safe version.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Retirement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Archive evidence, delete data appropriately and inform dependent users.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material change creates a new risk decision; version numbers alone do not preserve assurance.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4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Complete an AI Impact Assessment and Risk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4 · 50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Apply the governance lifecycle to assess impact, select controls and make a recorded go/no-go decision (A1, A3).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Frame context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Write risks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Select controls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Assess residual risk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Record decision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AI impact assessment, risk register and stage-gate decision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Prompt PDF, impact template, risk register CSV · Detailed procedure: Learner Guide, Activity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4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Verify · Complete an AI Impact Assessment and Risk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assessment connects context, harms, controls, evidence, residual risk and an accountable decision with conditions.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Alternatives considered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Six specific risk statements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Controls cover four modes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Residual risk is rescored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Decision and review date recorded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COURSE PAUSE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Review and reflect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Fairness and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Measure disparities and explain decisions without false certainty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Bias enters at every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Historical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Past inequity is encoded in outcomes used as labels.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Some groups or contexts are absent or under-sampled.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Measurement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Proxies and labels differ in quality across groups.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Users apply a model outside its tested context or over-trust it.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Removing a protected field does not remove proxies, structural inequity or deployment bias.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 a confusion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True positive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positive case is correctly identified.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False positive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negative case is incorrectly flagged positive.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True negative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negative case is correctly identified.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False negative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positive case is missed—often the costliest error.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Fairness analysis begins by asking which error creates harm for whom.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Fairness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Demographic parity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Positive decision rates are comparable across groups.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Equal opportunity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True-positive rates are comparable across groups.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Equalised odds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Both true-positive and false-positive rates are comparable.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Calibration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given score has comparable meaning across groups.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Metrics can conflict; select and justify the one aligned to the use case and harm 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Fairness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37360"/>
          <a:ext cx="65379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737360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28800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Selection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7" y="2075688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Group A 68% versus Group B 52% indicates outcome disparity.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70048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70048"/>
            <a:ext cx="73152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7" y="2761488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True-positive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7" y="3008376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Group A 82% versus Group B 70% indicates missed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02736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02736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7" y="3694176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False-positive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7" y="3941064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Group A 12% versus Group B 22% indicates excess burden.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535424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53542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7" y="4626864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7" y="4873752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Investigate data, thresholds, features and process—not just the metric.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13832"/>
            <a:ext cx="3931920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59" y="5577840"/>
            <a:ext cx="35844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Group B has a lower selection and true-positive rate, but a higher false-positive rate.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White-box and black-box explanations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White-box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Rules, linear models and small trees can be interpreted directly.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Black-box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Complex ensembles and deep models usually need post-hoc methods.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Global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Describe overall behaviour, influential features and population patterns.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Local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Explain why one prediction changed for one instance.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Model performance and interpretability are not a binary choice; choose evidence proportional to risk.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LIME, SHAP and PDP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Fits a simple local surrogate around one prediction.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SHAP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Allocates contribution using Shapley-value reasoning.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PDP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Shows the average marginal relationship between a feature and prediction.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Correlation, unstable explanations and feature dependence can mislead.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Explainability methods reveal model behaviour; they do not prove causality or fairness.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Counterfactual explanations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What minimal change would alter this outcome?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Give an affected person a concrete, actionable reason.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Constraint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Changes must be feasible, lawful and not shift burden unfairly.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technically valid counterfactual may recommend an impossible life change.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useful explanation respects human agency and the real-world ability to act.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MODULE 5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Documentation for explainability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Model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Intended use, performance, limits, groups and evaluation results.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Provenance, consent, composition, processing and known gaps.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System card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End-to-end behaviour, safeguards, tests and deployment context.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Decision notice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Plain-language reason, human contact and contest route.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Match documentation to audience while keeping every claim traceable to evidence.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5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Fairness and Explainability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5 · 60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Compute group-level fairness indicators, interpret explanations and recommend proportionate mitigations (A1, A2).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Build confusion matrix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Compute metrics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Compare groups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Review explanations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Recommend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Fairness scorecard and explanation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Spreadsheet, fairness-data.csv, explanation samples · Detailed procedure: Learner Guide, Activity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5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 · Audit Fairness and Explainability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scorecard shows correct metrics by group, interprets harm cautiously and connects mitigation to an owner and monitoring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Confusion matrices reconcile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At least four metrics per group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Metric choice is justified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No causal claim from correlation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Explanation supports contestability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Data Governance and Privacy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Make provenance, quality, access and retention governable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governance for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Data owner approves purpose, access, quality thresholds and retention.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Provenance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Record source, collection method, licence, consent and transformations.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Measure completeness, accuracy, timeliness, consistency and representativeness.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Enforce classification, access, sharing, retention and deletion.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model is only as governable as the evidence chain behind its data.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data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Collect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Confirm purpose, authority, minimisation and notice.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Prepare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Profile, clean, label, document and protect sensitive fields.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Restrict features and access to the approved purpose.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Retain or delete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Apply schedule, legal hold, lineage and verified disposal.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Each hand-off needs a recorded owner, allowed purpose and control state.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lineage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Where did the data originate and under what authority?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Transform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joins, filters, labels and feature engineering changed it?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dataset version trained or evaluated which model version?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data and model version influenced a specific decision?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Lineage turns an unrepeatable result into an auditable decision chain.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quality is contextual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37360"/>
          <a:ext cx="65379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737360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28800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7" y="2075688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Values reflect the real-world attribute closely enough for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70048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70048"/>
            <a:ext cx="73152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7" y="2761488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Completeness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7" y="3008376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Missingness is measured overall and by relevant group.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02736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02736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7" y="3694176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Representativeness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7" y="3941064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Training data covers the population and conditions of use.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535424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53542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7" y="4626864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Freshness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7" y="4873752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Update frequency matches how quickly the phenomenon changes.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13832"/>
            <a:ext cx="3931920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59" y="5577840"/>
            <a:ext cx="35844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Aggregate quality can hide a material representation gap for a subgroup.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Privacy threat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Linkage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Quasi-identifiers reconnect de-identified records to individuals.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Membership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 attacker infers whether a person was in training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Model inversion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Outputs reveal sensitive attributes or representative records.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Prompt leakage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Users expose personal or confidential data to a generative system.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De-identification reduces risk; it does not automatically make data anonymous or unrestricted.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Privacy-enhancing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K-anonymity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Generalise quasi-identifiers so each record resembles at least k−1 others.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Differential privacy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Bound an individual's influence using calibrated randomness.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Federated learning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Train across locations without centralising raw data.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Synthetic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Generate representative records while testing disclosure and bias risk.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Choose a technique by threat model; every privacy method introduces utility and implementation trade-offs.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Access, retention and deletion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Least 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data and action needed for the role.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Keep production data away from experimentation and public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Set period, trigger, owner and approved exceptions.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Deletion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Remove copies, embeddings, caches and backups where required.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deleted source file may survive in a vector store, fine-tune, cache or derived feature table.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MODULE 6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governance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Dataset, owner, purpose, sensitivity, location and retention.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Composition, collection, preprocessing, limitations and licences.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Quality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Thresholds, exceptions and group-level results.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Access 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Who accessed which data, why, when and what changed.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 should allow an independent reviewer to reconstruct the data decision.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6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Data Governance and Privacy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6 · 45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AI data lineage, quality, privacy threats, access and retention controls (A2).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Inventory data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 lineage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Test quality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Model privacy threats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Set retention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sheet, lineage map and privacy control plan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Prompt PDF, data inventory, lineage CSV, DPIA checklist · Detailed procedure: Learner Guide, Activity 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6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 · Design Data Governance and Privacy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data plan can reconstruct provenance and sets measurable quality, access, privacy, retention and deletion requirements.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Purpose and authority recorded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Lineage reaches model decision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Quality measured by group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PET maps to threat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Derived copies included in deletion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COURSE PAUSE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Generative AI Security and Copyright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Secure the data-model-application-human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GENAI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Layered Generative AI Security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enai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05273"/>
            <a:ext cx="6537960" cy="36795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73736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7536" y="182880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7536" y="209397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Provenance, access, poisoning and privacy.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9748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97480"/>
            <a:ext cx="73152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278892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305409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Provider, weights, prompts and evaluation.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5760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57600"/>
            <a:ext cx="73152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17536" y="374904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7536" y="401421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Retrieval, tools and output handling.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61772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61772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17536" y="470916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Human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497433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Oversight, use policy and incident response.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96128"/>
            <a:ext cx="393192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6096" y="5641848"/>
            <a:ext cx="3675887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Assume every layer can fail; design overlapping controls.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Generative AI expands the attack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Training, fine-tuning, RAG and conversation data can be poisoned or leaked.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Model plane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Weights, prompts, adapters and model endpoints can be stolen or manipulated.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Application 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Tools, plugins, parsers and output consumers inherit unsafe content.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 plane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Users may over-trust fluent output or disclose sensitive information.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Treat the generative AI service as an untrusted component inside a controlled system.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OWASP LLM Top 10: input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Prompt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Direct or indirect instructions override intended behaviour.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Sensitive disclosure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system reveals private, confidential or regulated information.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Supply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Models, datasets, packages and providers introduce hidden risk.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Data/model poisoning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Manipulated data or artefacts corrupt behaviour or create backdoors.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Input filtering alone cannot solve prompt injection; constrain privileges, data and downstream actions.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OWASP LLM Top 10: output and agency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Improper output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Unsafe model output reaches code, queries, browsers or users.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Excessive agency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model can perform actions beyond minimum necessary privileges.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System prompt leakage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Hidden instructions are exposed and mistaken for a security boundary.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Unbounded consumption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Inputs or loops exhaust cost, compute, time or service capacity.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Validate model output at the trust boundary and require approval for high-impact actions.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RAG and vector-store risks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Poisoned documents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Malicious content steers retrieval or injects hidden instructions.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Access bleed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Chunks from one user, tenant or classification reach another.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Embedding leakage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Vector representations can expose sensitive relationships.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Stale knowledge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Outdated or revoked documents remain retrievable.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Carry identity, permissions, provenance and expiry from source document to every chunk and retrieval.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Layered generative AI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Before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Classify input, remove secrets, enforce policy and retrieve authorised data.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At the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bounded instructions, safer settings and model/provider assurance.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After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Validate claims, content, format and tool arguments before use.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Around the system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Least privilege, approvals, logging, monitoring, rate limits and response.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Defence in depth assumes every individual guardrail will eventually fail.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Hallucination and misinformation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model generates probable language, not verified truth.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Exposure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Open-ended questions and missing evidence increase uncertainty.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Ground responses, cite sources, verify claims and calibrate refusal.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Oversight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Route consequential content to qualified human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Fluency is not evidence; require provenance for claims that drive decisions.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Copyright across the GenAI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Training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source rights, licences, consent, exceptions and contractual limits.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Prompt 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 not upload protected or confidential content without authority.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Generated 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Assess similarity, attribution, ownership terms and intended use.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Publication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Keep provenance records and review high-risk commercial outputs.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Copyright risk depends on jurisdiction and facts; governance should preserve provenance and enable review.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architecture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Threat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Assets, actors, trust boundaries, abuse cases and mitigations.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Prompt-attack, leakage, output, access and cost tests.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Telemetry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Prompt category, retrieval source, tool call, approval and outcome logs.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Runbook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Containment, key rotation, corpus purge, rollback and notification.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secure design can show which layer stops each threat and what evidence proves it.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7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Threat-Model a Generative AI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7 · 50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Apply layered generative AI security, privacy and copyright controls (A2).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Map assets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Mark trust boundaries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Run safe tests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Layer controls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Write runbook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Threat model, adversarial prompt results and control architecture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Prompt PDF, architecture.json, attack prompts, control checklist · Detailed procedure: Learner Guide, Activity 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7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 · Threat-Model a Generative AI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threat model covers data, model, application and human layers; every high-risk abuse case has multiple controls and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Trust boundaries drawn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OWASP risks mapped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No real secrets used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Tool permissions are least privilege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Copyright and incident controls included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COURSE PAUSE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10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Human Oversight and Accountability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Keep meaningful human control where consequences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HUMAN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Meaningful Human Oversight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uman-over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05273"/>
            <a:ext cx="6537960" cy="36795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73736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7536" y="182880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7536" y="209397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Reviewer sees evidence and uncertainty.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9748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97480"/>
            <a:ext cx="73152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278892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Challenge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305409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Reviewer can disagree without friction.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5760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57600"/>
            <a:ext cx="73152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17536" y="374904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Intervene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7536" y="401421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Reviewer can pause, override or escalate.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617720"/>
            <a:ext cx="3931920" cy="822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61772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17536" y="4709160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Learn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4974336"/>
            <a:ext cx="3474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Overrides and outcomes improve the system.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96128"/>
            <a:ext cx="393192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6096" y="5641848"/>
            <a:ext cx="3675887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Human presence matters only when it changes decisions and outcomes.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involvement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approves each consequential recommendation before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Human-on-the-loop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acts within bounds while a person supervises and can intervene.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Human-out-of-the-loop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acts without real-time review; reserve for low-risk, reversible tasks.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Human-in-command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People set goals, limits, authority, escalation and shutdown conditions.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Meaningful oversight depends on power, information, time and competence—not the presence of a checkbox.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Choose oversight by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Severity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Greater potential harm requires stronger review and authority.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Reversibility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Irreversible outcomes require intervention before action.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Uncertainty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Novel contexts and weak confidence increase escalation.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High-volume decisions need sampling, monitoring and systemic safeguards.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 low-risk routine decisions; preserve human approval for high-impact exceptions.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meaningful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Show evidence, uncertainty, alternatives and policy—not only a score.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Give the reviewer enough time to understand and challenge the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Authority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Allow override, pause, escalation and correction without penalty.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Competence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Train reviewers and monitor the quality of their decisions.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reviewer who cannot understand or change the decision is not an effective control.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bias and rubber-stamping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Anchoring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AI recommendation becomes the default starting point.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Complacency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Repeated correct outputs reduce vigilance over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Asymmetry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Overriding the model takes more effort or creates perceived blame.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Countermeasure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Hide score initially, require reasons, sample reviews and measure overrides.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Human review can create false assurance unless the interface and incentives support genuine challenge.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rights and escalation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246430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1922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1922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Frontline users handle normal cases within approved thresholds.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4115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88435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8435" y="1874519"/>
            <a:ext cx="246430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0550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550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8163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6451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Subject-matter experts resolve low-confidence and vulnerable-person cases.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2744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7064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874519"/>
            <a:ext cx="246430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9177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9177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Approve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Accountable owners accept high residual risk and exceptions.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91372" y="3040379"/>
            <a:ext cx="274320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965692" y="1874519"/>
            <a:ext cx="246430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5692" y="1874519"/>
            <a:ext cx="246430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780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780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419" y="2898648"/>
            <a:ext cx="224485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3708" y="3319272"/>
            <a:ext cx="2208276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Designated roles can pause the system when safety or rights are threatened.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Every boundary needs a trigger, response time, owner and fallback.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RACI for AI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Responsible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Performs the task and produces the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Accountable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Owns the outcome and has final decision authority.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Consulted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Provides specialist input before the decision.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Informed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Receives the outcome and relevant changes.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There should be one accountable owner for each material risk decision.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trail and contestability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Record input, model/data version, output, reviewer and final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 a reason suited to the affected person's needs.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Correct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Enable factual correction and rerun where appropriate.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Offer timely independent review and communicate the outcome.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MODULE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Redress completes accountability by giving affected people a path from explanation to remedy.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MODULE 8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Governance maturity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37360"/>
          <a:ext cx="65379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737360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73152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28800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Ad hoc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7" y="2075688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Teams rely on individual judgement and scattered documents.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70048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670048"/>
            <a:ext cx="73152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7" y="2761488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7" y="3008376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Inventory, policy, roles, risk tiers and minimum controls exist.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602736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02736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7" y="3694176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7" y="3941064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Control effectiveness, outcomes, incidents and fairness are monitored.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535424"/>
            <a:ext cx="393192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53542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7" y="4626864"/>
            <a:ext cx="35661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Adaptive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7" y="4873752"/>
            <a:ext cx="35478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161B26"/>
                </a:solidFill>
                <a:latin typeface="Arial"/>
              </a:rPr>
              <a:t>Evidence drives continuous improvement, challenge and transparent reporting.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5513832"/>
            <a:ext cx="3931920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59" y="5577840"/>
            <a:ext cx="35844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The maturity gain comes from evidence, learning and outcomes—not from producing more policy documents.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MODULE 8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Human Oversight and a Governance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28048" y="256032"/>
            <a:ext cx="19659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8048" y="283464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ACTIVITY 8 · 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10561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meaningful human involvement, escalation, monitoring and redress for an AI deployment (A2, A3).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26464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Assess consequence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33472" y="3236976"/>
            <a:ext cx="292607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26079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79" y="2542032"/>
            <a:ext cx="188366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02735" y="27432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5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6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Choose oversight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9744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542032"/>
            <a:ext cx="188366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79008" y="274320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8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Set thresholds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86016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8624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78624" y="2542032"/>
            <a:ext cx="188366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274320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Design redress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62288" y="3236976"/>
            <a:ext cx="292608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54896" y="2542032"/>
            <a:ext cx="1883664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54896" y="2542032"/>
            <a:ext cx="188366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31552" y="274320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31552" y="2743200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2912" y="3383279"/>
            <a:ext cx="16276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Approve conditions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315968"/>
            <a:ext cx="10680192" cy="96012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489704"/>
            <a:ext cx="1371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425696"/>
            <a:ext cx="87325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Oversight matrix and governance board decision pack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910328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Tools: Prompt PDF, decision scenarios, oversight matrix, board template · Detailed procedure: Learner Guide, Activity 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8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Verify · Design Human Oversight and a Governance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10680192" cy="1234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11680"/>
            <a:ext cx="1325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38528"/>
            <a:ext cx="85953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oversight design is risk-proportionate, gives reviewers real authority, addresses automation bias and includes contestability and stop conditions.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7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7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Oversight choice is justified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79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79" y="363931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Reviewer has time and authority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88152" y="36393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Escalation thresholds are measurable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4424" y="363931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Appeal and correction exist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3429000"/>
            <a:ext cx="1920240" cy="1508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0696" y="36393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3639312"/>
            <a:ext cx="5486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4352544"/>
            <a:ext cx="16459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161B26"/>
                </a:solidFill>
                <a:latin typeface="Arial"/>
              </a:rPr>
              <a:t>Board decision records residual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303520"/>
            <a:ext cx="10680192" cy="502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10287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If evidence is incomplete, record the gap, owner and due date—do not mark the control effective.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21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8595360" cy="10515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From Principles to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89611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Evidence · accountability · continuous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2057400"/>
            <a:ext cx="14173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5800" b="1">
                <a:solidFill>
                  <a:srgbClr val="D7E0EA"/>
                </a:solidFill>
                <a:latin typeface="Arial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Identify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Recognise principles, stakeholders, harms and governance processes.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SUMMAR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Tier use cases and complete an AI impact and risk assessment.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SUMMAR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Design fairness, data, security and oversight controls.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SUMMAR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Present evidence and make a recorded, accountable deployment decision.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COURSE SUMMAR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Responsible AI is a repeatable organisational capability, not a one-off compliance exercise.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Reference Frameworks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Singapore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 AI Governance Framework · AI Verify · GenAI governance.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RMF 1.0 · Generative AI Profile AI 600-1.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ISO/IEC 42001 AI management system.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OWASP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Top 10 for LLM Applications 2025.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primary framework sources and document which version informed each decision.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6583680" cy="4279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00784"/>
            <a:ext cx="658368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47088"/>
            <a:ext cx="118872" cy="11887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1847088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9888" y="1847088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64208" y="1810512"/>
            <a:ext cx="5257800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1819656"/>
            <a:ext cx="498348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87168"/>
            <a:ext cx="58521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Course Materials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20040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05840" y="3200400"/>
            <a:ext cx="64008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291840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Trainer Slides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3192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31920"/>
            <a:ext cx="64008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02335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Learner Slides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66344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4663440"/>
            <a:ext cx="64008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75487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Learner Guide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320040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3200400"/>
            <a:ext cx="64008" cy="548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40" y="3291840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4760" y="3931920"/>
            <a:ext cx="2514600" cy="5486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3931920"/>
            <a:ext cx="64008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77640" y="402335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644383" y="181051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44383" y="181051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173736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Approved courseware</a:t>
            </a:r>
          </a:p>
        </p:txBody>
      </p:sp>
      <p:sp>
        <p:nvSpPr>
          <p:cNvPr id="33" name="Oval 32"/>
          <p:cNvSpPr/>
          <p:nvPr/>
        </p:nvSpPr>
        <p:spPr>
          <a:xfrm>
            <a:off x="7644383" y="2770632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44383" y="277063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269748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36" name="Oval 35"/>
          <p:cNvSpPr/>
          <p:nvPr/>
        </p:nvSpPr>
        <p:spPr>
          <a:xfrm>
            <a:off x="7644383" y="373075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4383" y="373075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65760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Candidate question papers</a:t>
            </a:r>
          </a:p>
        </p:txBody>
      </p:sp>
      <p:sp>
        <p:nvSpPr>
          <p:cNvPr id="39" name="Oval 38"/>
          <p:cNvSpPr/>
          <p:nvPr/>
        </p:nvSpPr>
        <p:spPr>
          <a:xfrm>
            <a:off x="7644383" y="4690872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44383" y="4690872"/>
            <a:ext cx="502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617720"/>
            <a:ext cx="297180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Secure submission area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4 short-answer questions · K1–K4 · 1 hour.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3 scenario questions · A1–A3 · 1 hour.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Upload completed question papers to the LMS.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 not photograph or distribute assessment content.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Answer keys remain trainer-only and are never attached to learner-facing systems.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191658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8059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8059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66390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940710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0710" y="1874519"/>
            <a:ext cx="1916582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8961" y="2148839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8961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0438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57292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31612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1612" y="1874519"/>
            <a:ext cx="1916582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14883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1340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 then Case Study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48195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322515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5" y="1874519"/>
            <a:ext cx="1916582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60766" y="2148839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60766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2243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9097" y="3040379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513417" y="1874519"/>
            <a:ext cx="1916582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3417" y="1874519"/>
            <a:ext cx="191658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51668" y="2148839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51668" y="2148839"/>
            <a:ext cx="6400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3145" y="2898648"/>
            <a:ext cx="169712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599432"/>
            <a:ext cx="10680192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4782312"/>
            <a:ext cx="1019556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Complete the steps in sequence and confirm each submission.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8346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2648"/>
            <a:ext cx="1083564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AM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Scan the SSG digital-attendance QR code when the trainer displays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30752"/>
            <a:ext cx="96012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691640"/>
            <a:ext cx="82296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874519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PM attendance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Repeat after lunch; confirm the submission screen before closing.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730752"/>
            <a:ext cx="960120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91640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874519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Complete the separate assessment attendance at the scheduled time.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30752"/>
            <a:ext cx="9601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2487168" cy="23957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1691640"/>
            <a:ext cx="82296" cy="2395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07424" y="1874519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1874519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1828800"/>
            <a:ext cx="149961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Funding requirement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32304"/>
            <a:ext cx="1993392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Maintain at least 75% attendance and complete all prescribed assessments.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730752"/>
            <a:ext cx="96012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721608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TRAQOM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35640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8229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26280"/>
            <a:ext cx="10287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82896"/>
            <a:ext cx="102412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TRAQOM attendance is a formal funding record—check each submission before continuing.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COURSE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3327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98755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>
                <a:solidFill>
                  <a:srgbClr val="5B6372"/>
                </a:solidFill>
                <a:latin typeface="Arial"/>
              </a:rPr>
              <a:t>Build AI systems people can understand, challenge and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98755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enquiry@tertiaryinfotech.com · +65 6100 0613 ·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Fundamentals of AI Ethics and Responsible AI · TGS-2023021102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382512"/>
            <a:ext cx="374903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685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